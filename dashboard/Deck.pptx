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1" r:id="rId3"/>
    <p:sldId id="294" r:id="rId4"/>
    <p:sldId id="295" r:id="rId5"/>
    <p:sldId id="305" r:id="rId6"/>
    <p:sldId id="301" r:id="rId7"/>
    <p:sldId id="302" r:id="rId8"/>
    <p:sldId id="304" r:id="rId9"/>
    <p:sldId id="306" r:id="rId10"/>
    <p:sldId id="282" r:id="rId11"/>
  </p:sldIdLst>
  <p:sldSz cx="18288000" cy="10287000"/>
  <p:notesSz cx="6858000" cy="9144000"/>
  <p:embeddedFontLst>
    <p:embeddedFont>
      <p:font typeface="Open Sans" panose="020B0606030504020204" pitchFamily="34" charset="0"/>
      <p:regular r:id="rId12"/>
      <p:bold r:id="rId13"/>
      <p:italic r:id="rId14"/>
      <p:boldItalic r:id="rId15"/>
    </p:embeddedFont>
    <p:embeddedFont>
      <p:font typeface="Open Sauce" panose="020B0604020202020204" charset="0"/>
      <p:regular r:id="rId16"/>
    </p:embeddedFont>
    <p:embeddedFont>
      <p:font typeface="Open Sauce Light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1D"/>
    <a:srgbClr val="F1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7B166-DA31-1CEA-24CA-B6A3D0192C52}" v="132" dt="2025-05-06T13:30:44.565"/>
    <p1510:client id="{5BC3B512-7CE4-8F12-2DB2-54200AAF5183}" v="182" dt="2025-05-06T21:30:10.513"/>
    <p1510:client id="{70C02964-633F-E778-D56B-C8917F0D33F6}" v="22" dt="2025-05-06T18:47:53.840"/>
    <p1510:client id="{86CB0A85-7CE3-6541-BAD8-F0040C3E74DD}" v="1106" dt="2025-05-07T01:03:40.230"/>
    <p1510:client id="{96BC377F-7269-EA9D-3CC2-A0A492CC5E8B}" v="1766" dt="2025-05-06T17:04:49.578"/>
    <p1510:client id="{A33797C3-3108-43F2-9A1C-F6AAF2FCAD28}" v="4" dt="2025-05-06T13:34:43.746"/>
    <p1510:client id="{B287AD2D-EDE6-5880-E811-C90FEA511012}" v="9" dt="2025-05-06T14:08:16.933"/>
    <p1510:client id="{CC5AFB2D-9E9B-417A-8A55-3FD15F2DC722}" v="7" dt="2025-05-06T13:10:06.611"/>
    <p1510:client id="{CF02E958-CA6B-0F49-B57E-13B290267969}" v="2" dt="2025-05-06T01:38:31.377"/>
    <p1510:client id="{D666AB46-4E8E-3DCC-19A0-F620741FE0A7}" v="6" dt="2025-05-06T20:42:10.182"/>
    <p1510:client id="{D845EBEB-8863-38F2-4003-DFDEB2C772A2}" v="49" dt="2025-05-06T20:36:27.841"/>
    <p1510:client id="{F248EC73-78A0-9CD9-FB7D-20D6EB360196}" v="728" dt="2025-05-06T18:20:52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6"/>
  </p:normalViewPr>
  <p:slideViewPr>
    <p:cSldViewPr snapToGrid="0"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6289463" y="9194502"/>
            <a:ext cx="974732" cy="190323"/>
            <a:chOff x="0" y="0"/>
            <a:chExt cx="2198440" cy="429260"/>
          </a:xfrm>
        </p:grpSpPr>
        <p:sp>
          <p:nvSpPr>
            <p:cNvPr id="4" name="Freeform 4"/>
            <p:cNvSpPr/>
            <p:nvPr/>
          </p:nvSpPr>
          <p:spPr>
            <a:xfrm>
              <a:off x="0" y="-5080"/>
              <a:ext cx="2198440" cy="434340"/>
            </a:xfrm>
            <a:custGeom>
              <a:avLst/>
              <a:gdLst/>
              <a:ahLst/>
              <a:cxnLst/>
              <a:rect l="l" t="t" r="r" b="b"/>
              <a:pathLst>
                <a:path w="2198440" h="434340">
                  <a:moveTo>
                    <a:pt x="2180660" y="187960"/>
                  </a:moveTo>
                  <a:lnTo>
                    <a:pt x="1919040" y="11430"/>
                  </a:lnTo>
                  <a:cubicBezTo>
                    <a:pt x="1901260" y="0"/>
                    <a:pt x="1878400" y="3810"/>
                    <a:pt x="1865700" y="21590"/>
                  </a:cubicBezTo>
                  <a:cubicBezTo>
                    <a:pt x="1854270" y="39370"/>
                    <a:pt x="1858081" y="62230"/>
                    <a:pt x="1875860" y="74930"/>
                  </a:cubicBezTo>
                  <a:lnTo>
                    <a:pt x="2034610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2034610" y="257810"/>
                  </a:lnTo>
                  <a:lnTo>
                    <a:pt x="1875860" y="364490"/>
                  </a:lnTo>
                  <a:cubicBezTo>
                    <a:pt x="1858081" y="375920"/>
                    <a:pt x="1854270" y="400050"/>
                    <a:pt x="1865701" y="417830"/>
                  </a:cubicBezTo>
                  <a:cubicBezTo>
                    <a:pt x="1873320" y="429260"/>
                    <a:pt x="1884751" y="434340"/>
                    <a:pt x="1897451" y="434340"/>
                  </a:cubicBezTo>
                  <a:cubicBezTo>
                    <a:pt x="1905070" y="434340"/>
                    <a:pt x="1912690" y="431800"/>
                    <a:pt x="1919040" y="427990"/>
                  </a:cubicBezTo>
                  <a:lnTo>
                    <a:pt x="2181931" y="251460"/>
                  </a:lnTo>
                  <a:cubicBezTo>
                    <a:pt x="2192090" y="243840"/>
                    <a:pt x="2198440" y="232410"/>
                    <a:pt x="2198440" y="219710"/>
                  </a:cubicBezTo>
                  <a:cubicBezTo>
                    <a:pt x="2198440" y="207010"/>
                    <a:pt x="2192090" y="195580"/>
                    <a:pt x="2180660" y="18796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18288000" cy="8292326"/>
          </a:xfrm>
          <a:custGeom>
            <a:avLst/>
            <a:gdLst/>
            <a:ahLst/>
            <a:cxnLst/>
            <a:rect l="l" t="t" r="r" b="b"/>
            <a:pathLst>
              <a:path w="18288000" h="8292326">
                <a:moveTo>
                  <a:pt x="0" y="0"/>
                </a:moveTo>
                <a:lnTo>
                  <a:pt x="18288000" y="0"/>
                </a:lnTo>
                <a:lnTo>
                  <a:pt x="18288000" y="8292326"/>
                </a:lnTo>
                <a:lnTo>
                  <a:pt x="0" y="8292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1" t="-65571" r="-121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968618"/>
            <a:ext cx="10720735" cy="296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9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Risk Analytics:</a:t>
            </a:r>
          </a:p>
          <a:p>
            <a:pPr algn="l">
              <a:lnSpc>
                <a:spcPts val="11880"/>
              </a:lnSpc>
            </a:pPr>
            <a:r>
              <a:rPr lang="en-US" sz="99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Truck Operations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078740"/>
            <a:ext cx="4833805" cy="34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10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BUAN 6346.001 | Big Data</a:t>
            </a:r>
          </a:p>
        </p:txBody>
      </p:sp>
      <p:sp>
        <p:nvSpPr>
          <p:cNvPr id="9" name="AutoShape 9"/>
          <p:cNvSpPr/>
          <p:nvPr/>
        </p:nvSpPr>
        <p:spPr>
          <a:xfrm>
            <a:off x="1028700" y="1579655"/>
            <a:ext cx="4724622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62866" y="5069840"/>
            <a:ext cx="11204987" cy="45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4"/>
              </a:lnSpc>
            </a:pPr>
            <a:r>
              <a:rPr lang="en-US" sz="2800" b="0" i="1" u="none" strike="noStrike">
                <a:solidFill>
                  <a:schemeClr val="bg1"/>
                </a:solidFill>
                <a:effectLst/>
                <a:latin typeface="-webkit-standard"/>
              </a:rPr>
              <a:t>Ahead of the Curve: Steering Safety with Data-Driven Precision</a:t>
            </a:r>
            <a:endParaRPr lang="en-US" sz="2724" i="1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15680735" y="1028700"/>
            <a:ext cx="1578565" cy="1478111"/>
          </a:xfrm>
          <a:custGeom>
            <a:avLst/>
            <a:gdLst/>
            <a:ahLst/>
            <a:cxnLst/>
            <a:rect l="l" t="t" r="r" b="b"/>
            <a:pathLst>
              <a:path w="1578565" h="1478111">
                <a:moveTo>
                  <a:pt x="0" y="0"/>
                </a:moveTo>
                <a:lnTo>
                  <a:pt x="1578565" y="0"/>
                </a:lnTo>
                <a:lnTo>
                  <a:pt x="1578565" y="1478111"/>
                </a:lnTo>
                <a:lnTo>
                  <a:pt x="0" y="147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3799193" y="1028700"/>
            <a:ext cx="388849" cy="38884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870451" y="8869451"/>
            <a:ext cx="388849" cy="38884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455931" y="5143500"/>
            <a:ext cx="4054948" cy="4114800"/>
          </a:xfrm>
          <a:custGeom>
            <a:avLst/>
            <a:gdLst/>
            <a:ahLst/>
            <a:cxnLst/>
            <a:rect l="l" t="t" r="r" b="b"/>
            <a:pathLst>
              <a:path w="4054948" h="4114800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020300" y="1174827"/>
            <a:ext cx="7239000" cy="6330835"/>
          </a:xfrm>
          <a:custGeom>
            <a:avLst/>
            <a:gdLst/>
            <a:ahLst/>
            <a:cxnLst/>
            <a:rect l="l" t="t" r="r" b="b"/>
            <a:pathLst>
              <a:path w="7239000" h="6330835">
                <a:moveTo>
                  <a:pt x="0" y="0"/>
                </a:moveTo>
                <a:lnTo>
                  <a:pt x="7239000" y="0"/>
                </a:lnTo>
                <a:lnTo>
                  <a:pt x="7239000" y="6330835"/>
                </a:lnTo>
                <a:lnTo>
                  <a:pt x="0" y="63308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rot="-4558807">
            <a:off x="14881905" y="7854542"/>
            <a:ext cx="566344" cy="921566"/>
          </a:xfrm>
          <a:custGeom>
            <a:avLst/>
            <a:gdLst/>
            <a:ahLst/>
            <a:cxnLst/>
            <a:rect l="l" t="t" r="r" b="b"/>
            <a:pathLst>
              <a:path w="566344" h="921566">
                <a:moveTo>
                  <a:pt x="0" y="0"/>
                </a:moveTo>
                <a:lnTo>
                  <a:pt x="566344" y="0"/>
                </a:lnTo>
                <a:lnTo>
                  <a:pt x="566344" y="921566"/>
                </a:lnTo>
                <a:lnTo>
                  <a:pt x="0" y="921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294033" y="1028700"/>
            <a:ext cx="849967" cy="723244"/>
          </a:xfrm>
          <a:custGeom>
            <a:avLst/>
            <a:gdLst/>
            <a:ahLst/>
            <a:cxnLst/>
            <a:rect l="l" t="t" r="r" b="b"/>
            <a:pathLst>
              <a:path w="849967" h="723244">
                <a:moveTo>
                  <a:pt x="0" y="0"/>
                </a:moveTo>
                <a:lnTo>
                  <a:pt x="849967" y="0"/>
                </a:lnTo>
                <a:lnTo>
                  <a:pt x="849967" y="723244"/>
                </a:lnTo>
                <a:lnTo>
                  <a:pt x="0" y="723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3">
            <a:extLst>
              <a:ext uri="{FF2B5EF4-FFF2-40B4-BE49-F238E27FC236}">
                <a16:creationId xmlns:a16="http://schemas.microsoft.com/office/drawing/2014/main" id="{6CB4686D-96E1-8EB0-32C4-F30F78A92F0E}"/>
              </a:ext>
            </a:extLst>
          </p:cNvPr>
          <p:cNvGrpSpPr/>
          <p:nvPr/>
        </p:nvGrpSpPr>
        <p:grpSpPr>
          <a:xfrm>
            <a:off x="1028700" y="2171700"/>
            <a:ext cx="7658099" cy="6752434"/>
            <a:chOff x="0" y="0"/>
            <a:chExt cx="913240" cy="932406"/>
          </a:xfrm>
        </p:grpSpPr>
        <p:sp>
          <p:nvSpPr>
            <p:cNvPr id="27" name="Freeform 4">
              <a:extLst>
                <a:ext uri="{FF2B5EF4-FFF2-40B4-BE49-F238E27FC236}">
                  <a16:creationId xmlns:a16="http://schemas.microsoft.com/office/drawing/2014/main" id="{A872B6DD-9E64-30BA-F8DA-C37254F59E7C}"/>
                </a:ext>
              </a:extLst>
            </p:cNvPr>
            <p:cNvSpPr/>
            <p:nvPr/>
          </p:nvSpPr>
          <p:spPr>
            <a:xfrm>
              <a:off x="0" y="0"/>
              <a:ext cx="913240" cy="932405"/>
            </a:xfrm>
            <a:custGeom>
              <a:avLst/>
              <a:gdLst/>
              <a:ahLst/>
              <a:cxnLst/>
              <a:rect l="l" t="t" r="r" b="b"/>
              <a:pathLst>
                <a:path w="913240" h="932406">
                  <a:moveTo>
                    <a:pt x="55818" y="0"/>
                  </a:moveTo>
                  <a:lnTo>
                    <a:pt x="857421" y="0"/>
                  </a:lnTo>
                  <a:cubicBezTo>
                    <a:pt x="872225" y="0"/>
                    <a:pt x="886423" y="5881"/>
                    <a:pt x="896891" y="16349"/>
                  </a:cubicBezTo>
                  <a:cubicBezTo>
                    <a:pt x="907359" y="26817"/>
                    <a:pt x="913240" y="41014"/>
                    <a:pt x="913240" y="55818"/>
                  </a:cubicBezTo>
                  <a:lnTo>
                    <a:pt x="913240" y="876588"/>
                  </a:lnTo>
                  <a:cubicBezTo>
                    <a:pt x="913240" y="891392"/>
                    <a:pt x="907359" y="905589"/>
                    <a:pt x="896891" y="916057"/>
                  </a:cubicBezTo>
                  <a:cubicBezTo>
                    <a:pt x="886423" y="926525"/>
                    <a:pt x="872225" y="932406"/>
                    <a:pt x="857421" y="932406"/>
                  </a:cubicBezTo>
                  <a:lnTo>
                    <a:pt x="55818" y="932406"/>
                  </a:lnTo>
                  <a:cubicBezTo>
                    <a:pt x="41014" y="932406"/>
                    <a:pt x="26817" y="926525"/>
                    <a:pt x="16349" y="916057"/>
                  </a:cubicBezTo>
                  <a:cubicBezTo>
                    <a:pt x="5881" y="905589"/>
                    <a:pt x="0" y="891392"/>
                    <a:pt x="0" y="876588"/>
                  </a:cubicBezTo>
                  <a:lnTo>
                    <a:pt x="0" y="55818"/>
                  </a:lnTo>
                  <a:cubicBezTo>
                    <a:pt x="0" y="41014"/>
                    <a:pt x="5881" y="26817"/>
                    <a:pt x="16349" y="16349"/>
                  </a:cubicBezTo>
                  <a:cubicBezTo>
                    <a:pt x="26817" y="5881"/>
                    <a:pt x="41014" y="0"/>
                    <a:pt x="55818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5">
              <a:extLst>
                <a:ext uri="{FF2B5EF4-FFF2-40B4-BE49-F238E27FC236}">
                  <a16:creationId xmlns:a16="http://schemas.microsoft.com/office/drawing/2014/main" id="{57007C22-92F7-5855-455A-A5F86A63864C}"/>
                </a:ext>
              </a:extLst>
            </p:cNvPr>
            <p:cNvSpPr txBox="1"/>
            <p:nvPr/>
          </p:nvSpPr>
          <p:spPr>
            <a:xfrm>
              <a:off x="0" y="38100"/>
              <a:ext cx="913239" cy="89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grpSp>
        <p:nvGrpSpPr>
          <p:cNvPr id="30" name="Group 14">
            <a:extLst>
              <a:ext uri="{FF2B5EF4-FFF2-40B4-BE49-F238E27FC236}">
                <a16:creationId xmlns:a16="http://schemas.microsoft.com/office/drawing/2014/main" id="{3DC34E95-9793-7208-CBCE-E3D6F269C189}"/>
              </a:ext>
            </a:extLst>
          </p:cNvPr>
          <p:cNvGrpSpPr/>
          <p:nvPr/>
        </p:nvGrpSpPr>
        <p:grpSpPr>
          <a:xfrm>
            <a:off x="1233980" y="3329545"/>
            <a:ext cx="731520" cy="731520"/>
            <a:chOff x="0" y="0"/>
            <a:chExt cx="812800" cy="812800"/>
          </a:xfrm>
        </p:grpSpPr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7362E08-D4FB-09EB-612B-D56A65A0D2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en-US" sz="2400" b="1"/>
                <a:t>1.</a:t>
              </a:r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030B88CB-FA17-0530-62D2-74BBDD2C9780}"/>
                </a:ext>
              </a:extLst>
            </p:cNvPr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 sz="2000"/>
            </a:p>
          </p:txBody>
        </p:sp>
      </p:grpSp>
      <p:grpSp>
        <p:nvGrpSpPr>
          <p:cNvPr id="33" name="Group 14">
            <a:extLst>
              <a:ext uri="{FF2B5EF4-FFF2-40B4-BE49-F238E27FC236}">
                <a16:creationId xmlns:a16="http://schemas.microsoft.com/office/drawing/2014/main" id="{F827D51C-82B8-E309-DA37-33BC22AE3068}"/>
              </a:ext>
            </a:extLst>
          </p:cNvPr>
          <p:cNvGrpSpPr/>
          <p:nvPr/>
        </p:nvGrpSpPr>
        <p:grpSpPr>
          <a:xfrm>
            <a:off x="1249680" y="4497622"/>
            <a:ext cx="731520" cy="731520"/>
            <a:chOff x="0" y="0"/>
            <a:chExt cx="812800" cy="812800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F94F85D2-738A-9FDC-437C-4B80DAD00E5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en-US" sz="2400" b="1"/>
                <a:t>2.</a:t>
              </a:r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0A9C65AC-DF1C-AB27-541F-F5497DFBBFA5}"/>
                </a:ext>
              </a:extLst>
            </p:cNvPr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 sz="2000"/>
            </a:p>
          </p:txBody>
        </p:sp>
      </p:grpSp>
      <p:grpSp>
        <p:nvGrpSpPr>
          <p:cNvPr id="36" name="Group 14">
            <a:extLst>
              <a:ext uri="{FF2B5EF4-FFF2-40B4-BE49-F238E27FC236}">
                <a16:creationId xmlns:a16="http://schemas.microsoft.com/office/drawing/2014/main" id="{58956D0C-0786-4B4A-B402-2575D1F91AA3}"/>
              </a:ext>
            </a:extLst>
          </p:cNvPr>
          <p:cNvGrpSpPr/>
          <p:nvPr/>
        </p:nvGrpSpPr>
        <p:grpSpPr>
          <a:xfrm>
            <a:off x="1233980" y="5756744"/>
            <a:ext cx="731520" cy="731520"/>
            <a:chOff x="0" y="0"/>
            <a:chExt cx="812800" cy="812800"/>
          </a:xfrm>
        </p:grpSpPr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F196DAFE-F981-6BA9-4A97-A8F0E368EB8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en-US" sz="2400" b="1"/>
                <a:t>3.</a:t>
              </a:r>
            </a:p>
          </p:txBody>
        </p:sp>
        <p:sp>
          <p:nvSpPr>
            <p:cNvPr id="38" name="TextBox 16">
              <a:extLst>
                <a:ext uri="{FF2B5EF4-FFF2-40B4-BE49-F238E27FC236}">
                  <a16:creationId xmlns:a16="http://schemas.microsoft.com/office/drawing/2014/main" id="{6F79B062-F1F1-C91E-BB3A-41C083D83D38}"/>
                </a:ext>
              </a:extLst>
            </p:cNvPr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 sz="2000"/>
            </a:p>
          </p:txBody>
        </p:sp>
      </p:grpSp>
      <p:grpSp>
        <p:nvGrpSpPr>
          <p:cNvPr id="39" name="Group 14">
            <a:extLst>
              <a:ext uri="{FF2B5EF4-FFF2-40B4-BE49-F238E27FC236}">
                <a16:creationId xmlns:a16="http://schemas.microsoft.com/office/drawing/2014/main" id="{DEEBB436-09DD-AFDC-D6E7-96E764D628D6}"/>
              </a:ext>
            </a:extLst>
          </p:cNvPr>
          <p:cNvGrpSpPr/>
          <p:nvPr/>
        </p:nvGrpSpPr>
        <p:grpSpPr>
          <a:xfrm>
            <a:off x="1249680" y="6969252"/>
            <a:ext cx="731520" cy="731520"/>
            <a:chOff x="0" y="0"/>
            <a:chExt cx="812800" cy="812800"/>
          </a:xfrm>
        </p:grpSpPr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63B77297-7F89-ADEB-2897-6BCD975BD9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01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r>
                <a:rPr lang="en-US" sz="2400" b="1"/>
                <a:t>4.</a:t>
              </a:r>
            </a:p>
          </p:txBody>
        </p:sp>
        <p:sp>
          <p:nvSpPr>
            <p:cNvPr id="41" name="TextBox 16">
              <a:extLst>
                <a:ext uri="{FF2B5EF4-FFF2-40B4-BE49-F238E27FC236}">
                  <a16:creationId xmlns:a16="http://schemas.microsoft.com/office/drawing/2014/main" id="{8A31D73C-3A9D-C98A-379C-19DAA4A9EC5D}"/>
                </a:ext>
              </a:extLst>
            </p:cNvPr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 sz="2000"/>
            </a:p>
          </p:txBody>
        </p:sp>
      </p:grpSp>
      <p:sp>
        <p:nvSpPr>
          <p:cNvPr id="45" name="TextBox 21">
            <a:extLst>
              <a:ext uri="{FF2B5EF4-FFF2-40B4-BE49-F238E27FC236}">
                <a16:creationId xmlns:a16="http://schemas.microsoft.com/office/drawing/2014/main" id="{4FDC685D-2EE2-1FC1-A5EC-B97A1A9DB835}"/>
              </a:ext>
            </a:extLst>
          </p:cNvPr>
          <p:cNvSpPr txBox="1"/>
          <p:nvPr/>
        </p:nvSpPr>
        <p:spPr>
          <a:xfrm>
            <a:off x="1066800" y="742687"/>
            <a:ext cx="8115300" cy="1219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9731"/>
              </a:lnSpc>
              <a:defRPr sz="6000" spc="-718">
                <a:solidFill>
                  <a:srgbClr val="282A29"/>
                </a:solidFill>
                <a:latin typeface="Open Sauce"/>
                <a:ea typeface="Open Sauce"/>
                <a:cs typeface="Open Sauce"/>
              </a:defRPr>
            </a:lvl1pPr>
          </a:lstStyle>
          <a:p>
            <a:r>
              <a:rPr lang="en-US" sz="6600">
                <a:sym typeface="Open Sauce"/>
              </a:rPr>
              <a:t>Content Overview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1ED1AA-8404-EFAD-DEAD-C51B70B3A658}"/>
              </a:ext>
            </a:extLst>
          </p:cNvPr>
          <p:cNvSpPr txBox="1"/>
          <p:nvPr/>
        </p:nvSpPr>
        <p:spPr>
          <a:xfrm>
            <a:off x="2057400" y="2907748"/>
            <a:ext cx="6415580" cy="4902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9731"/>
              </a:lnSpc>
              <a:defRPr sz="6600" spc="-718">
                <a:solidFill>
                  <a:srgbClr val="282A29"/>
                </a:solidFill>
                <a:latin typeface="Open Sauce"/>
                <a:ea typeface="Open Sauce"/>
                <a:cs typeface="Open Sauce"/>
              </a:defRPr>
            </a:lvl1pPr>
          </a:lstStyle>
          <a:p>
            <a:r>
              <a:rPr lang="en-US" sz="4400" spc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Statement </a:t>
            </a:r>
          </a:p>
          <a:p>
            <a:r>
              <a:rPr lang="en-US" sz="4400" spc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flow &amp; Description</a:t>
            </a:r>
          </a:p>
          <a:p>
            <a:r>
              <a:rPr lang="en-US" sz="4400" spc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Insights </a:t>
            </a:r>
          </a:p>
          <a:p>
            <a:r>
              <a:rPr lang="en-US" sz="4400" spc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9D569-466D-995E-C306-5646CACF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D2E6154-DE59-ED62-C5A0-AD310ED313B2}"/>
              </a:ext>
            </a:extLst>
          </p:cNvPr>
          <p:cNvSpPr/>
          <p:nvPr/>
        </p:nvSpPr>
        <p:spPr>
          <a:xfrm>
            <a:off x="190500" y="114300"/>
            <a:ext cx="17411700" cy="5159886"/>
          </a:xfrm>
          <a:prstGeom prst="roundRect">
            <a:avLst/>
          </a:prstGeom>
          <a:solidFill>
            <a:srgbClr val="FFE01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9119497-5AA5-60D0-6EA3-91BC10D07A33}"/>
              </a:ext>
            </a:extLst>
          </p:cNvPr>
          <p:cNvSpPr txBox="1"/>
          <p:nvPr/>
        </p:nvSpPr>
        <p:spPr>
          <a:xfrm>
            <a:off x="685800" y="334044"/>
            <a:ext cx="9848217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Problem </a:t>
            </a:r>
          </a:p>
          <a:p>
            <a:pPr algn="l"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Statement</a:t>
            </a:r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205571AB-F673-7EEE-E35F-5613E9A4849F}"/>
              </a:ext>
            </a:extLst>
          </p:cNvPr>
          <p:cNvSpPr txBox="1"/>
          <p:nvPr/>
        </p:nvSpPr>
        <p:spPr>
          <a:xfrm>
            <a:off x="685800" y="5320194"/>
            <a:ext cx="4038600" cy="1109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9731"/>
              </a:lnSpc>
              <a:defRPr sz="9600" spc="-718">
                <a:solidFill>
                  <a:srgbClr val="282A29"/>
                </a:solidFill>
                <a:latin typeface="Open Sauce"/>
                <a:ea typeface="Open Sauce"/>
                <a:cs typeface="Open Sauce"/>
              </a:defRPr>
            </a:lvl1pPr>
          </a:lstStyle>
          <a:p>
            <a:r>
              <a:rPr lang="en-US" sz="5400" spc="-300"/>
              <a:t>Objectives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39E8A9E-F20D-7AF5-8E4B-8ED904614720}"/>
              </a:ext>
            </a:extLst>
          </p:cNvPr>
          <p:cNvSpPr/>
          <p:nvPr/>
        </p:nvSpPr>
        <p:spPr>
          <a:xfrm>
            <a:off x="685800" y="3178629"/>
            <a:ext cx="16154400" cy="17168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the Fleet Manager of AZ National Trucking (ANT), our primary challenge is to ensure compliance with regulations and mitigate insurance risks associated with hazardous driving practices.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71F9DE-8960-624F-486F-91D8B7EADDF2}"/>
              </a:ext>
            </a:extLst>
          </p:cNvPr>
          <p:cNvSpPr txBox="1"/>
          <p:nvPr/>
        </p:nvSpPr>
        <p:spPr>
          <a:xfrm>
            <a:off x="685800" y="6585282"/>
            <a:ext cx="15544800" cy="3511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71780" lvl="1">
              <a:lnSpc>
                <a:spcPts val="3528"/>
              </a:lnSpc>
            </a:pPr>
            <a:r>
              <a:rPr lang="en-US" sz="2500">
                <a:latin typeface="Open Sans"/>
                <a:ea typeface="Open Sans"/>
                <a:cs typeface="Open Sans"/>
              </a:rPr>
              <a:t>    Understanding Risk Types and Risk Factor Calculation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lnSpc>
                <a:spcPts val="3528"/>
              </a:lnSpc>
            </a:pPr>
            <a:endParaRPr lang="en-US" sz="252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71780" lvl="1">
              <a:lnSpc>
                <a:spcPts val="3528"/>
              </a:lnSpc>
            </a:pPr>
            <a:r>
              <a:rPr lang="en-US" sz="2500">
                <a:latin typeface="Open Sans"/>
                <a:ea typeface="Open Sans"/>
                <a:cs typeface="Open Sans"/>
              </a:rPr>
              <a:t>    Highlight risk trends geographically</a:t>
            </a:r>
          </a:p>
          <a:p>
            <a:pPr>
              <a:lnSpc>
                <a:spcPts val="3528"/>
              </a:lnSpc>
            </a:pPr>
            <a:endParaRPr lang="en-US" sz="252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71780" lvl="1">
              <a:lnSpc>
                <a:spcPts val="3528"/>
              </a:lnSpc>
            </a:pPr>
            <a:r>
              <a:rPr lang="en-US" sz="2500">
                <a:latin typeface="Open Sans"/>
                <a:ea typeface="Open Sans"/>
                <a:cs typeface="Open Sans"/>
              </a:rPr>
              <a:t>    Understand risk by model of truck</a:t>
            </a:r>
          </a:p>
          <a:p>
            <a:pPr>
              <a:lnSpc>
                <a:spcPts val="3528"/>
              </a:lnSpc>
            </a:pPr>
            <a:endParaRPr lang="en-US" sz="252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71780" lvl="1">
              <a:lnSpc>
                <a:spcPts val="3528"/>
              </a:lnSpc>
            </a:pPr>
            <a:r>
              <a:rPr lang="en-US" sz="2500">
                <a:latin typeface="Open Sans"/>
                <a:ea typeface="Open Sans"/>
                <a:cs typeface="Open Sans"/>
              </a:rPr>
              <a:t>    Identify truck drivers with highest risk factors</a:t>
            </a:r>
          </a:p>
          <a:p>
            <a:endParaRPr lang="en-US"/>
          </a:p>
        </p:txBody>
      </p:sp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A77BD1-EE47-2B5F-0FED-E176131EB2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7477028"/>
            <a:ext cx="495300" cy="495300"/>
          </a:xfrm>
          <a:prstGeom prst="rect">
            <a:avLst/>
          </a:prstGeom>
        </p:spPr>
      </p:pic>
      <p:pic>
        <p:nvPicPr>
          <p:cNvPr id="65" name="Picture 6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D15D9BD-54F8-471A-8B8B-2C4B531E10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067" y="1533979"/>
            <a:ext cx="1245802" cy="1245802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BBD0B85E-608A-AB21-9E96-522B8C9EB3E2}"/>
              </a:ext>
            </a:extLst>
          </p:cNvPr>
          <p:cNvGrpSpPr/>
          <p:nvPr/>
        </p:nvGrpSpPr>
        <p:grpSpPr>
          <a:xfrm>
            <a:off x="6096000" y="2031857"/>
            <a:ext cx="762000" cy="520842"/>
            <a:chOff x="13792201" y="7594458"/>
            <a:chExt cx="762000" cy="520842"/>
          </a:xfrm>
        </p:grpSpPr>
        <p:sp>
          <p:nvSpPr>
            <p:cNvPr id="68" name="Freeform 35">
              <a:extLst>
                <a:ext uri="{FF2B5EF4-FFF2-40B4-BE49-F238E27FC236}">
                  <a16:creationId xmlns:a16="http://schemas.microsoft.com/office/drawing/2014/main" id="{93507DB3-10C8-2FE6-29B8-F9126A8CD581}"/>
                </a:ext>
              </a:extLst>
            </p:cNvPr>
            <p:cNvSpPr/>
            <p:nvPr/>
          </p:nvSpPr>
          <p:spPr>
            <a:xfrm>
              <a:off x="13792201" y="7594458"/>
              <a:ext cx="762000" cy="252324"/>
            </a:xfrm>
            <a:custGeom>
              <a:avLst/>
              <a:gdLst/>
              <a:ahLst/>
              <a:cxnLst/>
              <a:rect l="l" t="t" r="r" b="b"/>
              <a:pathLst>
                <a:path w="1245801" h="253690">
                  <a:moveTo>
                    <a:pt x="0" y="0"/>
                  </a:moveTo>
                  <a:lnTo>
                    <a:pt x="1245801" y="0"/>
                  </a:lnTo>
                  <a:lnTo>
                    <a:pt x="1245801" y="253690"/>
                  </a:lnTo>
                  <a:lnTo>
                    <a:pt x="0" y="253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5">
              <a:extLst>
                <a:ext uri="{FF2B5EF4-FFF2-40B4-BE49-F238E27FC236}">
                  <a16:creationId xmlns:a16="http://schemas.microsoft.com/office/drawing/2014/main" id="{A68DF237-E3E0-18C0-40DA-294D8A146EB4}"/>
                </a:ext>
              </a:extLst>
            </p:cNvPr>
            <p:cNvSpPr/>
            <p:nvPr/>
          </p:nvSpPr>
          <p:spPr>
            <a:xfrm>
              <a:off x="13792201" y="7862976"/>
              <a:ext cx="762000" cy="252324"/>
            </a:xfrm>
            <a:custGeom>
              <a:avLst/>
              <a:gdLst/>
              <a:ahLst/>
              <a:cxnLst/>
              <a:rect l="l" t="t" r="r" b="b"/>
              <a:pathLst>
                <a:path w="1245801" h="253690">
                  <a:moveTo>
                    <a:pt x="0" y="0"/>
                  </a:moveTo>
                  <a:lnTo>
                    <a:pt x="1245801" y="0"/>
                  </a:lnTo>
                  <a:lnTo>
                    <a:pt x="1245801" y="253690"/>
                  </a:lnTo>
                  <a:lnTo>
                    <a:pt x="0" y="253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0B3D4DC-950D-836F-1C35-34DFEDEA3F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24" y="8338515"/>
            <a:ext cx="493776" cy="493776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49FC7A-8555-674F-3719-D3B8A6585A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24" y="9242243"/>
            <a:ext cx="493776" cy="49377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2166B5-1511-910B-8355-7D05F130BC7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24" y="6608280"/>
            <a:ext cx="493776" cy="4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2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DE9F-E6BE-5DFF-3CC8-CC425EE4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1540911E-40D0-5D35-BA05-4AADEE993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057" y="2247900"/>
            <a:ext cx="14355886" cy="7535017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A85A9A13-1955-F605-6390-E26F3A83CE9B}"/>
              </a:ext>
            </a:extLst>
          </p:cNvPr>
          <p:cNvSpPr txBox="1"/>
          <p:nvPr/>
        </p:nvSpPr>
        <p:spPr>
          <a:xfrm>
            <a:off x="685800" y="334044"/>
            <a:ext cx="9848217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Data Flow &amp;</a:t>
            </a:r>
          </a:p>
          <a:p>
            <a:pPr algn="l"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69018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4B10E-0543-737E-CE07-88F539B8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14CEEDE0-E467-0065-2184-1EAB44B099CA}"/>
              </a:ext>
            </a:extLst>
          </p:cNvPr>
          <p:cNvSpPr txBox="1"/>
          <p:nvPr/>
        </p:nvSpPr>
        <p:spPr>
          <a:xfrm>
            <a:off x="685800" y="334044"/>
            <a:ext cx="17602200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Insights : </a:t>
            </a:r>
            <a:r>
              <a:rPr lang="en-US" sz="8800" spc="-718">
                <a:solidFill>
                  <a:srgbClr val="282A29"/>
                </a:solidFill>
                <a:latin typeface="Open Sauce"/>
              </a:rPr>
              <a:t>Events Analysis</a:t>
            </a:r>
            <a:endParaRPr lang="en-US" sz="8800" spc="-718">
              <a:solidFill>
                <a:srgbClr val="282A29"/>
              </a:solidFill>
              <a:latin typeface="Open Sauce"/>
              <a:sym typeface="Open Sauce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F7ECD4-020F-2708-8328-A74925208631}"/>
              </a:ext>
            </a:extLst>
          </p:cNvPr>
          <p:cNvGrpSpPr/>
          <p:nvPr/>
        </p:nvGrpSpPr>
        <p:grpSpPr>
          <a:xfrm>
            <a:off x="1601113" y="2476446"/>
            <a:ext cx="8801100" cy="7346031"/>
            <a:chOff x="1363133" y="2556126"/>
            <a:chExt cx="8801100" cy="7346031"/>
          </a:xfrm>
        </p:grpSpPr>
        <p:pic>
          <p:nvPicPr>
            <p:cNvPr id="4" name="Picture 3" descr="A pie chart with numbers and a few blue circles&#10;&#10;AI-generated content may be incorrect.">
              <a:extLst>
                <a:ext uri="{FF2B5EF4-FFF2-40B4-BE49-F238E27FC236}">
                  <a16:creationId xmlns:a16="http://schemas.microsoft.com/office/drawing/2014/main" id="{0CB8964A-DF68-D5A1-AA54-1065FA3EF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513"/>
            <a:stretch/>
          </p:blipFill>
          <p:spPr>
            <a:xfrm>
              <a:off x="1761066" y="2726564"/>
              <a:ext cx="7196155" cy="4426062"/>
            </a:xfrm>
            <a:prstGeom prst="rect">
              <a:avLst/>
            </a:prstGeom>
          </p:spPr>
        </p:pic>
        <p:pic>
          <p:nvPicPr>
            <p:cNvPr id="2" name="Picture 1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AF9DB7E0-7766-A83C-8827-43B72F274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3133" y="7513675"/>
              <a:ext cx="7415304" cy="11811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D1B240-CBA7-7E2B-35F9-4774D1612674}"/>
                </a:ext>
              </a:extLst>
            </p:cNvPr>
            <p:cNvSpPr txBox="1"/>
            <p:nvPr/>
          </p:nvSpPr>
          <p:spPr>
            <a:xfrm>
              <a:off x="5249570" y="8886493"/>
              <a:ext cx="4914663" cy="101566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Abnormal events per million miles driven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Normalized risk across drivers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Acceptable risk threshold = 7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B84B77-84FE-B515-840E-B3BF4A22C7E6}"/>
                </a:ext>
              </a:extLst>
            </p:cNvPr>
            <p:cNvSpPr txBox="1"/>
            <p:nvPr/>
          </p:nvSpPr>
          <p:spPr>
            <a:xfrm>
              <a:off x="1363133" y="8886494"/>
              <a:ext cx="4003819" cy="101566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Total Observations = 8000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Normal Observations = 7543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Unsafe Observations = 457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EB93D2-57B6-FA53-A7F3-8A050787F734}"/>
                </a:ext>
              </a:extLst>
            </p:cNvPr>
            <p:cNvSpPr txBox="1"/>
            <p:nvPr/>
          </p:nvSpPr>
          <p:spPr>
            <a:xfrm>
              <a:off x="2139154" y="7072927"/>
              <a:ext cx="6455596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800" b="1">
                  <a:ea typeface="Calibri"/>
                  <a:cs typeface="Calibri"/>
                </a:rPr>
                <a:t>Understanding Risk Factor Calculation</a:t>
              </a:r>
              <a:endParaRPr lang="en-US" sz="2800" b="1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390D82-D8FA-FC3E-2AB8-FA6954E5892A}"/>
                </a:ext>
              </a:extLst>
            </p:cNvPr>
            <p:cNvSpPr/>
            <p:nvPr/>
          </p:nvSpPr>
          <p:spPr>
            <a:xfrm>
              <a:off x="3410695" y="2556126"/>
              <a:ext cx="3912514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tx1"/>
                  </a:solidFill>
                  <a:ea typeface="Calibri"/>
                  <a:cs typeface="Calibri"/>
                </a:rPr>
                <a:t>Split of Unsafe Events</a:t>
              </a:r>
              <a:endParaRPr lang="en-US" sz="2800" b="1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93008D-A885-81CC-BF38-2D803E211020}"/>
              </a:ext>
            </a:extLst>
          </p:cNvPr>
          <p:cNvSpPr txBox="1"/>
          <p:nvPr/>
        </p:nvSpPr>
        <p:spPr>
          <a:xfrm>
            <a:off x="678469" y="1493309"/>
            <a:ext cx="15475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Unsafe Driving Events Account for Nearly 6% of All Trips, Dominated by Lane and Distance Violations</a:t>
            </a:r>
            <a:endParaRPr lang="en-US" sz="2400" i="1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DD5EF2B8-2E7E-99C5-4A59-31EBC8839F54}"/>
              </a:ext>
            </a:extLst>
          </p:cNvPr>
          <p:cNvGrpSpPr/>
          <p:nvPr/>
        </p:nvGrpSpPr>
        <p:grpSpPr>
          <a:xfrm>
            <a:off x="11921323" y="2434233"/>
            <a:ext cx="5654340" cy="7555618"/>
            <a:chOff x="0" y="0"/>
            <a:chExt cx="913240" cy="932406"/>
          </a:xfrm>
        </p:grpSpPr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3E6B7FA5-7135-FFFE-1B69-E479EC9176F1}"/>
                </a:ext>
              </a:extLst>
            </p:cNvPr>
            <p:cNvSpPr/>
            <p:nvPr/>
          </p:nvSpPr>
          <p:spPr>
            <a:xfrm>
              <a:off x="0" y="0"/>
              <a:ext cx="913240" cy="932406"/>
            </a:xfrm>
            <a:custGeom>
              <a:avLst/>
              <a:gdLst/>
              <a:ahLst/>
              <a:cxnLst/>
              <a:rect l="l" t="t" r="r" b="b"/>
              <a:pathLst>
                <a:path w="913240" h="932406">
                  <a:moveTo>
                    <a:pt x="55818" y="0"/>
                  </a:moveTo>
                  <a:lnTo>
                    <a:pt x="857421" y="0"/>
                  </a:lnTo>
                  <a:cubicBezTo>
                    <a:pt x="872225" y="0"/>
                    <a:pt x="886423" y="5881"/>
                    <a:pt x="896891" y="16349"/>
                  </a:cubicBezTo>
                  <a:cubicBezTo>
                    <a:pt x="907359" y="26817"/>
                    <a:pt x="913240" y="41014"/>
                    <a:pt x="913240" y="55818"/>
                  </a:cubicBezTo>
                  <a:lnTo>
                    <a:pt x="913240" y="876588"/>
                  </a:lnTo>
                  <a:cubicBezTo>
                    <a:pt x="913240" y="891392"/>
                    <a:pt x="907359" y="905589"/>
                    <a:pt x="896891" y="916057"/>
                  </a:cubicBezTo>
                  <a:cubicBezTo>
                    <a:pt x="886423" y="926525"/>
                    <a:pt x="872225" y="932406"/>
                    <a:pt x="857421" y="932406"/>
                  </a:cubicBezTo>
                  <a:lnTo>
                    <a:pt x="55818" y="932406"/>
                  </a:lnTo>
                  <a:cubicBezTo>
                    <a:pt x="41014" y="932406"/>
                    <a:pt x="26817" y="926525"/>
                    <a:pt x="16349" y="916057"/>
                  </a:cubicBezTo>
                  <a:cubicBezTo>
                    <a:pt x="5881" y="905589"/>
                    <a:pt x="0" y="891392"/>
                    <a:pt x="0" y="876588"/>
                  </a:cubicBezTo>
                  <a:lnTo>
                    <a:pt x="0" y="55818"/>
                  </a:lnTo>
                  <a:cubicBezTo>
                    <a:pt x="0" y="41014"/>
                    <a:pt x="5881" y="26817"/>
                    <a:pt x="16349" y="16349"/>
                  </a:cubicBezTo>
                  <a:cubicBezTo>
                    <a:pt x="26817" y="5881"/>
                    <a:pt x="41014" y="0"/>
                    <a:pt x="55818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CE91EA3F-23CB-3991-66EB-D563D2B59C1D}"/>
                </a:ext>
              </a:extLst>
            </p:cNvPr>
            <p:cNvSpPr txBox="1"/>
            <p:nvPr/>
          </p:nvSpPr>
          <p:spPr>
            <a:xfrm>
              <a:off x="0" y="38100"/>
              <a:ext cx="913239" cy="89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57A10A6-3F70-75B7-2A4E-3AB0BBB2B6CB}"/>
              </a:ext>
            </a:extLst>
          </p:cNvPr>
          <p:cNvSpPr txBox="1"/>
          <p:nvPr/>
        </p:nvSpPr>
        <p:spPr>
          <a:xfrm>
            <a:off x="12293157" y="3211220"/>
            <a:ext cx="491066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Risk is normalized per million miles to fairly compare drivers, with 7 events as the high-risk threshold</a:t>
            </a:r>
            <a:endParaRPr lang="en-US" sz="2400"/>
          </a:p>
          <a:p>
            <a:endParaRPr lang="en-US" sz="2400" b="1" i="0" u="none" strike="noStrike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effectLst/>
              </a:rPr>
              <a:t>Lane departure and unsafe following distance alone contribute to over 66% of all unsafe events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, signaling top focus areas for driver training and monitoring</a:t>
            </a:r>
          </a:p>
          <a:p>
            <a:endParaRPr lang="en-US" sz="2400">
              <a:solidFill>
                <a:srgbClr val="000000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effectLst/>
              </a:rPr>
              <a:t>Unsafe tail distance is the least frequent event but still accounts for over 14% of all incidents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, showing that even lower-occurrence behaviors require attention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F0A8F3-C4B7-5D8B-F906-6AC5431971DF}"/>
              </a:ext>
            </a:extLst>
          </p:cNvPr>
          <p:cNvSpPr/>
          <p:nvPr/>
        </p:nvSpPr>
        <p:spPr>
          <a:xfrm>
            <a:off x="712336" y="2434233"/>
            <a:ext cx="10666863" cy="75556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61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9948C-8F06-A426-89A9-EA59B2A5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B3D63EFF-6F7A-6ED8-D0C3-10CCE16AC15F}"/>
              </a:ext>
            </a:extLst>
          </p:cNvPr>
          <p:cNvSpPr txBox="1"/>
          <p:nvPr/>
        </p:nvSpPr>
        <p:spPr>
          <a:xfrm>
            <a:off x="685800" y="334044"/>
            <a:ext cx="13538200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Insights : </a:t>
            </a:r>
            <a:r>
              <a:rPr lang="en-US" sz="8800" spc="-718">
                <a:solidFill>
                  <a:srgbClr val="282A29"/>
                </a:solidFill>
                <a:latin typeface="Open Sauce"/>
              </a:rPr>
              <a:t>Risk by City</a:t>
            </a:r>
            <a:endParaRPr lang="en-US" sz="6600" i="1" spc="-718">
              <a:solidFill>
                <a:srgbClr val="282A29"/>
              </a:solidFill>
              <a:latin typeface="Open Sauce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73104E-5B9D-2AD3-C546-B9C000838193}"/>
              </a:ext>
            </a:extLst>
          </p:cNvPr>
          <p:cNvGrpSpPr/>
          <p:nvPr/>
        </p:nvGrpSpPr>
        <p:grpSpPr>
          <a:xfrm>
            <a:off x="931335" y="2641600"/>
            <a:ext cx="10014928" cy="7247461"/>
            <a:chOff x="712338" y="2112343"/>
            <a:chExt cx="11287435" cy="8112789"/>
          </a:xfrm>
        </p:grpSpPr>
        <p:pic>
          <p:nvPicPr>
            <p:cNvPr id="4" name="Picture 3" descr="A map of the united states&#10;&#10;AI-generated content may be incorrect.">
              <a:extLst>
                <a:ext uri="{FF2B5EF4-FFF2-40B4-BE49-F238E27FC236}">
                  <a16:creationId xmlns:a16="http://schemas.microsoft.com/office/drawing/2014/main" id="{42918A91-AF11-9E94-952B-EB011CC99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1559" y="2112343"/>
              <a:ext cx="5338214" cy="3374057"/>
            </a:xfrm>
            <a:prstGeom prst="rect">
              <a:avLst/>
            </a:prstGeom>
          </p:spPr>
        </p:pic>
        <p:pic>
          <p:nvPicPr>
            <p:cNvPr id="5" name="Picture 4" descr="A map of the los angeles area&#10;&#10;AI-generated content may be incorrect.">
              <a:extLst>
                <a:ext uri="{FF2B5EF4-FFF2-40B4-BE49-F238E27FC236}">
                  <a16:creationId xmlns:a16="http://schemas.microsoft.com/office/drawing/2014/main" id="{A14B256A-EADC-151A-777C-7989EA8FB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338" y="2112343"/>
              <a:ext cx="5338214" cy="3374057"/>
            </a:xfrm>
            <a:prstGeom prst="rect">
              <a:avLst/>
            </a:prstGeom>
          </p:spPr>
        </p:pic>
        <p:pic>
          <p:nvPicPr>
            <p:cNvPr id="2" name="Picture 1" descr="A colorful circle with numbers and numbers&#10;&#10;AI-generated content may be incorrect.">
              <a:extLst>
                <a:ext uri="{FF2B5EF4-FFF2-40B4-BE49-F238E27FC236}">
                  <a16:creationId xmlns:a16="http://schemas.microsoft.com/office/drawing/2014/main" id="{0412A6B9-103C-5AD2-5283-723B919F4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613"/>
            <a:stretch/>
          </p:blipFill>
          <p:spPr>
            <a:xfrm>
              <a:off x="3358193" y="5884412"/>
              <a:ext cx="6754458" cy="4340720"/>
            </a:xfrm>
            <a:prstGeom prst="rect">
              <a:avLst/>
            </a:prstGeom>
          </p:spPr>
        </p:pic>
      </p:grpSp>
      <p:grpSp>
        <p:nvGrpSpPr>
          <p:cNvPr id="3" name="Group 3">
            <a:extLst>
              <a:ext uri="{FF2B5EF4-FFF2-40B4-BE49-F238E27FC236}">
                <a16:creationId xmlns:a16="http://schemas.microsoft.com/office/drawing/2014/main" id="{803102F0-BDC9-13C3-FAF8-D900A37570B2}"/>
              </a:ext>
            </a:extLst>
          </p:cNvPr>
          <p:cNvGrpSpPr/>
          <p:nvPr/>
        </p:nvGrpSpPr>
        <p:grpSpPr>
          <a:xfrm>
            <a:off x="11921323" y="2434233"/>
            <a:ext cx="5654340" cy="7555618"/>
            <a:chOff x="0" y="0"/>
            <a:chExt cx="913240" cy="932406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270AA02D-E025-20F1-D53F-7C9443DB6B14}"/>
                </a:ext>
              </a:extLst>
            </p:cNvPr>
            <p:cNvSpPr/>
            <p:nvPr/>
          </p:nvSpPr>
          <p:spPr>
            <a:xfrm>
              <a:off x="0" y="0"/>
              <a:ext cx="913240" cy="932406"/>
            </a:xfrm>
            <a:custGeom>
              <a:avLst/>
              <a:gdLst/>
              <a:ahLst/>
              <a:cxnLst/>
              <a:rect l="l" t="t" r="r" b="b"/>
              <a:pathLst>
                <a:path w="913240" h="932406">
                  <a:moveTo>
                    <a:pt x="55818" y="0"/>
                  </a:moveTo>
                  <a:lnTo>
                    <a:pt x="857421" y="0"/>
                  </a:lnTo>
                  <a:cubicBezTo>
                    <a:pt x="872225" y="0"/>
                    <a:pt x="886423" y="5881"/>
                    <a:pt x="896891" y="16349"/>
                  </a:cubicBezTo>
                  <a:cubicBezTo>
                    <a:pt x="907359" y="26817"/>
                    <a:pt x="913240" y="41014"/>
                    <a:pt x="913240" y="55818"/>
                  </a:cubicBezTo>
                  <a:lnTo>
                    <a:pt x="913240" y="876588"/>
                  </a:lnTo>
                  <a:cubicBezTo>
                    <a:pt x="913240" y="891392"/>
                    <a:pt x="907359" y="905589"/>
                    <a:pt x="896891" y="916057"/>
                  </a:cubicBezTo>
                  <a:cubicBezTo>
                    <a:pt x="886423" y="926525"/>
                    <a:pt x="872225" y="932406"/>
                    <a:pt x="857421" y="932406"/>
                  </a:cubicBezTo>
                  <a:lnTo>
                    <a:pt x="55818" y="932406"/>
                  </a:lnTo>
                  <a:cubicBezTo>
                    <a:pt x="41014" y="932406"/>
                    <a:pt x="26817" y="926525"/>
                    <a:pt x="16349" y="916057"/>
                  </a:cubicBezTo>
                  <a:cubicBezTo>
                    <a:pt x="5881" y="905589"/>
                    <a:pt x="0" y="891392"/>
                    <a:pt x="0" y="876588"/>
                  </a:cubicBezTo>
                  <a:lnTo>
                    <a:pt x="0" y="55818"/>
                  </a:lnTo>
                  <a:cubicBezTo>
                    <a:pt x="0" y="41014"/>
                    <a:pt x="5881" y="26817"/>
                    <a:pt x="16349" y="16349"/>
                  </a:cubicBezTo>
                  <a:cubicBezTo>
                    <a:pt x="26817" y="5881"/>
                    <a:pt x="41014" y="0"/>
                    <a:pt x="55818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183B40E2-5030-BED9-3487-ABD12F068709}"/>
                </a:ext>
              </a:extLst>
            </p:cNvPr>
            <p:cNvSpPr txBox="1"/>
            <p:nvPr/>
          </p:nvSpPr>
          <p:spPr>
            <a:xfrm>
              <a:off x="0" y="38100"/>
              <a:ext cx="913239" cy="89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A25DF87-59B7-4C2D-DD02-A4F3915A545C}"/>
              </a:ext>
            </a:extLst>
          </p:cNvPr>
          <p:cNvSpPr/>
          <p:nvPr/>
        </p:nvSpPr>
        <p:spPr>
          <a:xfrm>
            <a:off x="712336" y="2434233"/>
            <a:ext cx="10666863" cy="75556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B3410A-B34B-2194-BA26-F3B1D6748F29}"/>
              </a:ext>
            </a:extLst>
          </p:cNvPr>
          <p:cNvSpPr txBox="1"/>
          <p:nvPr/>
        </p:nvSpPr>
        <p:spPr>
          <a:xfrm>
            <a:off x="712335" y="1493309"/>
            <a:ext cx="15475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Risky driving events are primarily concentrated along NH5 indicating elevated risk zones along high-traffic corridors</a:t>
            </a:r>
            <a:endParaRPr lang="en-US" sz="2400" i="1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098288-3970-65D1-6233-AE447CF8356D}"/>
              </a:ext>
            </a:extLst>
          </p:cNvPr>
          <p:cNvSpPr txBox="1"/>
          <p:nvPr/>
        </p:nvSpPr>
        <p:spPr>
          <a:xfrm>
            <a:off x="12293157" y="3211220"/>
            <a:ext cx="491066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effectLst/>
              </a:rPr>
              <a:t>Risk events are heavily concentrated near metropolitan zones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, suggesting urban density and traffic volume are key drivers of risky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effectLst/>
              </a:rPr>
              <a:t>Santa Rosa and Willits together account for over 38% of total risk events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, indicating concentrated hotspots in Northern California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effectLst/>
              </a:rPr>
              <a:t>Geographic spread shows risk presence in both Northern and Southern California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, suggesting a need for state-wide risk mitigation strategies, not just regional focus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2956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06A0C-C0F1-38B2-AA69-C2DB6879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FD9982A7-BD52-D823-2E14-653D9A52CA52}"/>
              </a:ext>
            </a:extLst>
          </p:cNvPr>
          <p:cNvSpPr txBox="1"/>
          <p:nvPr/>
        </p:nvSpPr>
        <p:spPr>
          <a:xfrm>
            <a:off x="685800" y="334044"/>
            <a:ext cx="14300200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Insights : </a:t>
            </a:r>
            <a:r>
              <a:rPr lang="en-US" sz="8800" spc="-718">
                <a:solidFill>
                  <a:srgbClr val="282A29"/>
                </a:solidFill>
                <a:latin typeface="Open Sauce"/>
              </a:rPr>
              <a:t>Truck  Model Analysis</a:t>
            </a:r>
            <a:endParaRPr lang="en-US" sz="8800" spc="-718">
              <a:solidFill>
                <a:srgbClr val="282A29"/>
              </a:solidFill>
              <a:latin typeface="Open Sauce"/>
              <a:sym typeface="Open Sauc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7FE07-3AD3-7EF4-04D0-94A7458D0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8" t="4030"/>
          <a:stretch/>
        </p:blipFill>
        <p:spPr>
          <a:xfrm>
            <a:off x="712336" y="2434233"/>
            <a:ext cx="10649932" cy="75187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E56226-327B-CBE1-1D69-109FC8D3D3CA}"/>
              </a:ext>
            </a:extLst>
          </p:cNvPr>
          <p:cNvSpPr txBox="1"/>
          <p:nvPr/>
        </p:nvSpPr>
        <p:spPr>
          <a:xfrm>
            <a:off x="712335" y="1493309"/>
            <a:ext cx="15475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u="none" strike="noStrike">
                <a:solidFill>
                  <a:srgbClr val="000000"/>
                </a:solidFill>
                <a:effectLst/>
              </a:rPr>
              <a:t>Lane Departure and Following Distance Emerge as Top Risk Patterns Across Truck Models</a:t>
            </a:r>
            <a:endParaRPr lang="en-US" sz="2400" i="1"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CB1081-1176-418C-4B8F-7D8B60F7BE04}"/>
              </a:ext>
            </a:extLst>
          </p:cNvPr>
          <p:cNvGrpSpPr/>
          <p:nvPr/>
        </p:nvGrpSpPr>
        <p:grpSpPr>
          <a:xfrm>
            <a:off x="11921323" y="2434233"/>
            <a:ext cx="5654340" cy="7555618"/>
            <a:chOff x="0" y="0"/>
            <a:chExt cx="913240" cy="932406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6F5B132B-22E2-AC41-C207-BAE8ABD8FC3E}"/>
                </a:ext>
              </a:extLst>
            </p:cNvPr>
            <p:cNvSpPr/>
            <p:nvPr/>
          </p:nvSpPr>
          <p:spPr>
            <a:xfrm>
              <a:off x="0" y="0"/>
              <a:ext cx="913240" cy="932406"/>
            </a:xfrm>
            <a:custGeom>
              <a:avLst/>
              <a:gdLst/>
              <a:ahLst/>
              <a:cxnLst/>
              <a:rect l="l" t="t" r="r" b="b"/>
              <a:pathLst>
                <a:path w="913240" h="932406">
                  <a:moveTo>
                    <a:pt x="55818" y="0"/>
                  </a:moveTo>
                  <a:lnTo>
                    <a:pt x="857421" y="0"/>
                  </a:lnTo>
                  <a:cubicBezTo>
                    <a:pt x="872225" y="0"/>
                    <a:pt x="886423" y="5881"/>
                    <a:pt x="896891" y="16349"/>
                  </a:cubicBezTo>
                  <a:cubicBezTo>
                    <a:pt x="907359" y="26817"/>
                    <a:pt x="913240" y="41014"/>
                    <a:pt x="913240" y="55818"/>
                  </a:cubicBezTo>
                  <a:lnTo>
                    <a:pt x="913240" y="876588"/>
                  </a:lnTo>
                  <a:cubicBezTo>
                    <a:pt x="913240" y="891392"/>
                    <a:pt x="907359" y="905589"/>
                    <a:pt x="896891" y="916057"/>
                  </a:cubicBezTo>
                  <a:cubicBezTo>
                    <a:pt x="886423" y="926525"/>
                    <a:pt x="872225" y="932406"/>
                    <a:pt x="857421" y="932406"/>
                  </a:cubicBezTo>
                  <a:lnTo>
                    <a:pt x="55818" y="932406"/>
                  </a:lnTo>
                  <a:cubicBezTo>
                    <a:pt x="41014" y="932406"/>
                    <a:pt x="26817" y="926525"/>
                    <a:pt x="16349" y="916057"/>
                  </a:cubicBezTo>
                  <a:cubicBezTo>
                    <a:pt x="5881" y="905589"/>
                    <a:pt x="0" y="891392"/>
                    <a:pt x="0" y="876588"/>
                  </a:cubicBezTo>
                  <a:lnTo>
                    <a:pt x="0" y="55818"/>
                  </a:lnTo>
                  <a:cubicBezTo>
                    <a:pt x="0" y="41014"/>
                    <a:pt x="5881" y="26817"/>
                    <a:pt x="16349" y="16349"/>
                  </a:cubicBezTo>
                  <a:cubicBezTo>
                    <a:pt x="26817" y="5881"/>
                    <a:pt x="41014" y="0"/>
                    <a:pt x="55818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96D70DF9-8DD8-F509-A60E-D7C418B7E9BC}"/>
                </a:ext>
              </a:extLst>
            </p:cNvPr>
            <p:cNvSpPr txBox="1"/>
            <p:nvPr/>
          </p:nvSpPr>
          <p:spPr>
            <a:xfrm>
              <a:off x="0" y="38100"/>
              <a:ext cx="913239" cy="89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9D74DB-410D-F405-ACB4-AFD2666E5230}"/>
              </a:ext>
            </a:extLst>
          </p:cNvPr>
          <p:cNvSpPr txBox="1"/>
          <p:nvPr/>
        </p:nvSpPr>
        <p:spPr>
          <a:xfrm>
            <a:off x="12293157" y="3211220"/>
            <a:ext cx="491066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effectLst/>
              </a:rPr>
              <a:t>Unsafe driving behaviors are dominated by lane-related and distance-based violations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, pointing to attention and spacing issues across the fleet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Risk patterns vary across models, likely due to operational roles (e.g., long-haul vs. local routes) rather than vehicle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effectLst/>
              </a:rPr>
              <a:t>No causal link is observed between truck model and event type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, suggesting driver behavior and route conditions are the more relevant risk factors</a:t>
            </a:r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025A3E-E479-C01C-E7CE-975373A0F7C5}"/>
              </a:ext>
            </a:extLst>
          </p:cNvPr>
          <p:cNvSpPr/>
          <p:nvPr/>
        </p:nvSpPr>
        <p:spPr>
          <a:xfrm rot="16200000">
            <a:off x="144376" y="5981208"/>
            <a:ext cx="187960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No : of Events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A6BCB-8A34-91C9-FFB2-02ACAB2B6928}"/>
              </a:ext>
            </a:extLst>
          </p:cNvPr>
          <p:cNvSpPr/>
          <p:nvPr/>
        </p:nvSpPr>
        <p:spPr>
          <a:xfrm>
            <a:off x="5603269" y="9595919"/>
            <a:ext cx="1879600" cy="293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Truck Model</a:t>
            </a:r>
          </a:p>
        </p:txBody>
      </p:sp>
    </p:spTree>
    <p:extLst>
      <p:ext uri="{BB962C8B-B14F-4D97-AF65-F5344CB8AC3E}">
        <p14:creationId xmlns:p14="http://schemas.microsoft.com/office/powerpoint/2010/main" val="1606098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6321-CDB4-C63B-FF8F-3BE30873E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E43E41B4-5536-C0B7-7E43-268871FB4E40}"/>
              </a:ext>
            </a:extLst>
          </p:cNvPr>
          <p:cNvSpPr txBox="1"/>
          <p:nvPr/>
        </p:nvSpPr>
        <p:spPr>
          <a:xfrm>
            <a:off x="685800" y="334044"/>
            <a:ext cx="13284200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Insights : </a:t>
            </a:r>
            <a:r>
              <a:rPr lang="en-US" sz="8800" spc="-718">
                <a:solidFill>
                  <a:srgbClr val="282A29"/>
                </a:solidFill>
                <a:latin typeface="Open Sauce"/>
              </a:rPr>
              <a:t>Risk by Drivers</a:t>
            </a:r>
            <a:endParaRPr lang="en-US" sz="8800" spc="-718">
              <a:solidFill>
                <a:srgbClr val="282A29"/>
              </a:solidFill>
              <a:latin typeface="Open Sauce"/>
              <a:sym typeface="Open Sauce"/>
            </a:endParaRPr>
          </a:p>
        </p:txBody>
      </p:sp>
      <p:pic>
        <p:nvPicPr>
          <p:cNvPr id="4" name="Picture 3" descr="A graph of blue and purple squares&#10;&#10;AI-generated content may be incorrect.">
            <a:extLst>
              <a:ext uri="{FF2B5EF4-FFF2-40B4-BE49-F238E27FC236}">
                <a16:creationId xmlns:a16="http://schemas.microsoft.com/office/drawing/2014/main" id="{D6CA1365-20EA-FF58-97C5-22B593D09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6297" b="2562"/>
          <a:stretch/>
        </p:blipFill>
        <p:spPr>
          <a:xfrm>
            <a:off x="1870767" y="6155341"/>
            <a:ext cx="8358176" cy="3625535"/>
          </a:xfrm>
          <a:prstGeom prst="rect">
            <a:avLst/>
          </a:prstGeom>
        </p:spPr>
      </p:pic>
      <p:pic>
        <p:nvPicPr>
          <p:cNvPr id="3" name="Picture 2" descr="A graph of a number of drivers&#10;&#10;AI-generated content may be incorrect.">
            <a:extLst>
              <a:ext uri="{FF2B5EF4-FFF2-40B4-BE49-F238E27FC236}">
                <a16:creationId xmlns:a16="http://schemas.microsoft.com/office/drawing/2014/main" id="{38EE519F-D4A8-E257-E1F0-55AA327226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1"/>
          <a:stretch/>
        </p:blipFill>
        <p:spPr>
          <a:xfrm>
            <a:off x="1870767" y="2430000"/>
            <a:ext cx="8358176" cy="37274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F7A828-5326-15D0-4426-C1592F8339A4}"/>
              </a:ext>
            </a:extLst>
          </p:cNvPr>
          <p:cNvSpPr txBox="1"/>
          <p:nvPr/>
        </p:nvSpPr>
        <p:spPr>
          <a:xfrm>
            <a:off x="712335" y="1493309"/>
            <a:ext cx="15475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u="none" strike="noStrike">
                <a:solidFill>
                  <a:srgbClr val="000000"/>
                </a:solidFill>
                <a:effectLst/>
              </a:rPr>
              <a:t>66% of Drivers Exceed Risk Threshold — Key “Drivers” Identified</a:t>
            </a:r>
            <a:endParaRPr lang="en-US" sz="2400" i="1"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D56F4-D29D-C1AD-F007-F19A804FEF0F}"/>
              </a:ext>
            </a:extLst>
          </p:cNvPr>
          <p:cNvSpPr/>
          <p:nvPr/>
        </p:nvSpPr>
        <p:spPr>
          <a:xfrm>
            <a:off x="712336" y="2434233"/>
            <a:ext cx="10666863" cy="75556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942E8F-BB29-2CEB-72A9-4C46ECED356A}"/>
              </a:ext>
            </a:extLst>
          </p:cNvPr>
          <p:cNvGrpSpPr/>
          <p:nvPr/>
        </p:nvGrpSpPr>
        <p:grpSpPr>
          <a:xfrm>
            <a:off x="11921323" y="2434233"/>
            <a:ext cx="5654340" cy="7555618"/>
            <a:chOff x="0" y="0"/>
            <a:chExt cx="913240" cy="932406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EC80E578-07FB-3515-E3D6-97E8A78CEE41}"/>
                </a:ext>
              </a:extLst>
            </p:cNvPr>
            <p:cNvSpPr/>
            <p:nvPr/>
          </p:nvSpPr>
          <p:spPr>
            <a:xfrm>
              <a:off x="0" y="0"/>
              <a:ext cx="913240" cy="932406"/>
            </a:xfrm>
            <a:custGeom>
              <a:avLst/>
              <a:gdLst/>
              <a:ahLst/>
              <a:cxnLst/>
              <a:rect l="l" t="t" r="r" b="b"/>
              <a:pathLst>
                <a:path w="913240" h="932406">
                  <a:moveTo>
                    <a:pt x="55818" y="0"/>
                  </a:moveTo>
                  <a:lnTo>
                    <a:pt x="857421" y="0"/>
                  </a:lnTo>
                  <a:cubicBezTo>
                    <a:pt x="872225" y="0"/>
                    <a:pt x="886423" y="5881"/>
                    <a:pt x="896891" y="16349"/>
                  </a:cubicBezTo>
                  <a:cubicBezTo>
                    <a:pt x="907359" y="26817"/>
                    <a:pt x="913240" y="41014"/>
                    <a:pt x="913240" y="55818"/>
                  </a:cubicBezTo>
                  <a:lnTo>
                    <a:pt x="913240" y="876588"/>
                  </a:lnTo>
                  <a:cubicBezTo>
                    <a:pt x="913240" y="891392"/>
                    <a:pt x="907359" y="905589"/>
                    <a:pt x="896891" y="916057"/>
                  </a:cubicBezTo>
                  <a:cubicBezTo>
                    <a:pt x="886423" y="926525"/>
                    <a:pt x="872225" y="932406"/>
                    <a:pt x="857421" y="932406"/>
                  </a:cubicBezTo>
                  <a:lnTo>
                    <a:pt x="55818" y="932406"/>
                  </a:lnTo>
                  <a:cubicBezTo>
                    <a:pt x="41014" y="932406"/>
                    <a:pt x="26817" y="926525"/>
                    <a:pt x="16349" y="916057"/>
                  </a:cubicBezTo>
                  <a:cubicBezTo>
                    <a:pt x="5881" y="905589"/>
                    <a:pt x="0" y="891392"/>
                    <a:pt x="0" y="876588"/>
                  </a:cubicBezTo>
                  <a:lnTo>
                    <a:pt x="0" y="55818"/>
                  </a:lnTo>
                  <a:cubicBezTo>
                    <a:pt x="0" y="41014"/>
                    <a:pt x="5881" y="26817"/>
                    <a:pt x="16349" y="16349"/>
                  </a:cubicBezTo>
                  <a:cubicBezTo>
                    <a:pt x="26817" y="5881"/>
                    <a:pt x="41014" y="0"/>
                    <a:pt x="55818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A21CB7B0-9AD5-52F0-B6E1-DBCA3E70D8E7}"/>
                </a:ext>
              </a:extLst>
            </p:cNvPr>
            <p:cNvSpPr txBox="1"/>
            <p:nvPr/>
          </p:nvSpPr>
          <p:spPr>
            <a:xfrm>
              <a:off x="0" y="38100"/>
              <a:ext cx="913239" cy="89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F6B8A0F-CE4B-0B16-02AE-A994419A60ED}"/>
              </a:ext>
            </a:extLst>
          </p:cNvPr>
          <p:cNvSpPr txBox="1"/>
          <p:nvPr/>
        </p:nvSpPr>
        <p:spPr>
          <a:xfrm>
            <a:off x="12293157" y="3525969"/>
            <a:ext cx="49106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effectLst/>
                <a:latin typeface="-webkit-standard"/>
              </a:rPr>
              <a:t>Driver A97 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registers the </a:t>
            </a:r>
            <a:r>
              <a:rPr lang="en-US" sz="2400" b="1" i="0" u="none" strike="noStrike">
                <a:solidFill>
                  <a:srgbClr val="000000"/>
                </a:solidFill>
                <a:effectLst/>
                <a:latin typeface="-webkit-standard"/>
              </a:rPr>
              <a:t>highest cumulative risk factor</a:t>
            </a: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, making them a clear priority for immediate review and coaching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Low-risk drivers form a small but valuable group that can serve as a benchmark for safer driving behavior across the fleet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effectLst/>
                <a:latin typeface="-webkit-standard"/>
              </a:rPr>
              <a:t>High-risk drivers outnumber low-risk ones by nearly 6:1, highlighting the urgency for targeted safety interventions</a:t>
            </a:r>
            <a:endParaRPr 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18C06B-C19E-53E4-0E83-A9D4096F0D0D}"/>
              </a:ext>
            </a:extLst>
          </p:cNvPr>
          <p:cNvSpPr/>
          <p:nvPr/>
        </p:nvSpPr>
        <p:spPr>
          <a:xfrm rot="16200000">
            <a:off x="930962" y="3823207"/>
            <a:ext cx="187960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Risk Factor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2EE888-68CE-6A80-3EA8-1830BA469EA4}"/>
              </a:ext>
            </a:extLst>
          </p:cNvPr>
          <p:cNvSpPr/>
          <p:nvPr/>
        </p:nvSpPr>
        <p:spPr>
          <a:xfrm>
            <a:off x="5414434" y="5969448"/>
            <a:ext cx="1879600" cy="293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Driver 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0B5342-3739-BD58-529E-002AB507AF85}"/>
              </a:ext>
            </a:extLst>
          </p:cNvPr>
          <p:cNvSpPr/>
          <p:nvPr/>
        </p:nvSpPr>
        <p:spPr>
          <a:xfrm>
            <a:off x="5105967" y="9694029"/>
            <a:ext cx="1879600" cy="180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Risk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7F238B-7681-365C-32B7-340AD66A517F}"/>
              </a:ext>
            </a:extLst>
          </p:cNvPr>
          <p:cNvSpPr/>
          <p:nvPr/>
        </p:nvSpPr>
        <p:spPr>
          <a:xfrm rot="16200000">
            <a:off x="930960" y="7788238"/>
            <a:ext cx="187960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No : of Drivers</a:t>
            </a:r>
          </a:p>
        </p:txBody>
      </p:sp>
    </p:spTree>
    <p:extLst>
      <p:ext uri="{BB962C8B-B14F-4D97-AF65-F5344CB8AC3E}">
        <p14:creationId xmlns:p14="http://schemas.microsoft.com/office/powerpoint/2010/main" val="168037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3536F-1A4D-2399-5679-4095F55C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2C56EBD7-20D9-1C82-369C-3C2775B4BD5C}"/>
              </a:ext>
            </a:extLst>
          </p:cNvPr>
          <p:cNvSpPr txBox="1"/>
          <p:nvPr/>
        </p:nvSpPr>
        <p:spPr>
          <a:xfrm>
            <a:off x="685800" y="334044"/>
            <a:ext cx="1142153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Insights :Outlier  Study</a:t>
            </a:r>
            <a:endParaRPr lang="en-US" sz="8800" spc="-718">
              <a:solidFill>
                <a:srgbClr val="282A29"/>
              </a:solidFill>
              <a:latin typeface="Open Sauce"/>
              <a:sym typeface="Open Sauc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4D375-0555-3B8B-9EED-472EC8EC73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43"/>
          <a:stretch/>
        </p:blipFill>
        <p:spPr>
          <a:xfrm>
            <a:off x="719504" y="3145536"/>
            <a:ext cx="4428230" cy="2518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1CD65A-D444-111E-57FA-FF3863D3A6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26"/>
          <a:stretch/>
        </p:blipFill>
        <p:spPr>
          <a:xfrm>
            <a:off x="5572398" y="2999231"/>
            <a:ext cx="5382137" cy="26652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C98322-A05C-2B4F-2964-26036E9DD6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26"/>
          <a:stretch/>
        </p:blipFill>
        <p:spPr>
          <a:xfrm>
            <a:off x="719504" y="6666996"/>
            <a:ext cx="4997721" cy="26652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CEB7902-24C4-843D-3AE1-3BC59492CF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49"/>
          <a:stretch/>
        </p:blipFill>
        <p:spPr>
          <a:xfrm>
            <a:off x="6045768" y="6858000"/>
            <a:ext cx="4908768" cy="25103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70092F-C680-3D81-4BBA-30DCA1AE2F56}"/>
              </a:ext>
            </a:extLst>
          </p:cNvPr>
          <p:cNvSpPr/>
          <p:nvPr/>
        </p:nvSpPr>
        <p:spPr>
          <a:xfrm>
            <a:off x="712336" y="2434233"/>
            <a:ext cx="10666863" cy="75556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8AF2468-F428-FBEF-1E4E-7332FC602098}"/>
              </a:ext>
            </a:extLst>
          </p:cNvPr>
          <p:cNvGrpSpPr/>
          <p:nvPr/>
        </p:nvGrpSpPr>
        <p:grpSpPr>
          <a:xfrm>
            <a:off x="11921323" y="2434233"/>
            <a:ext cx="5654340" cy="7555618"/>
            <a:chOff x="0" y="0"/>
            <a:chExt cx="913240" cy="932406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BAEC56D6-E379-A745-F73F-A2D699FF67C6}"/>
                </a:ext>
              </a:extLst>
            </p:cNvPr>
            <p:cNvSpPr/>
            <p:nvPr/>
          </p:nvSpPr>
          <p:spPr>
            <a:xfrm>
              <a:off x="0" y="0"/>
              <a:ext cx="913240" cy="932406"/>
            </a:xfrm>
            <a:custGeom>
              <a:avLst/>
              <a:gdLst/>
              <a:ahLst/>
              <a:cxnLst/>
              <a:rect l="l" t="t" r="r" b="b"/>
              <a:pathLst>
                <a:path w="913240" h="932406">
                  <a:moveTo>
                    <a:pt x="55818" y="0"/>
                  </a:moveTo>
                  <a:lnTo>
                    <a:pt x="857421" y="0"/>
                  </a:lnTo>
                  <a:cubicBezTo>
                    <a:pt x="872225" y="0"/>
                    <a:pt x="886423" y="5881"/>
                    <a:pt x="896891" y="16349"/>
                  </a:cubicBezTo>
                  <a:cubicBezTo>
                    <a:pt x="907359" y="26817"/>
                    <a:pt x="913240" y="41014"/>
                    <a:pt x="913240" y="55818"/>
                  </a:cubicBezTo>
                  <a:lnTo>
                    <a:pt x="913240" y="876588"/>
                  </a:lnTo>
                  <a:cubicBezTo>
                    <a:pt x="913240" y="891392"/>
                    <a:pt x="907359" y="905589"/>
                    <a:pt x="896891" y="916057"/>
                  </a:cubicBezTo>
                  <a:cubicBezTo>
                    <a:pt x="886423" y="926525"/>
                    <a:pt x="872225" y="932406"/>
                    <a:pt x="857421" y="932406"/>
                  </a:cubicBezTo>
                  <a:lnTo>
                    <a:pt x="55818" y="932406"/>
                  </a:lnTo>
                  <a:cubicBezTo>
                    <a:pt x="41014" y="932406"/>
                    <a:pt x="26817" y="926525"/>
                    <a:pt x="16349" y="916057"/>
                  </a:cubicBezTo>
                  <a:cubicBezTo>
                    <a:pt x="5881" y="905589"/>
                    <a:pt x="0" y="891392"/>
                    <a:pt x="0" y="876588"/>
                  </a:cubicBezTo>
                  <a:lnTo>
                    <a:pt x="0" y="55818"/>
                  </a:lnTo>
                  <a:cubicBezTo>
                    <a:pt x="0" y="41014"/>
                    <a:pt x="5881" y="26817"/>
                    <a:pt x="16349" y="16349"/>
                  </a:cubicBezTo>
                  <a:cubicBezTo>
                    <a:pt x="26817" y="5881"/>
                    <a:pt x="41014" y="0"/>
                    <a:pt x="55818" y="0"/>
                  </a:cubicBezTo>
                  <a:close/>
                </a:path>
              </a:pathLst>
            </a:custGeom>
            <a:solidFill>
              <a:srgbClr val="FFFCEF"/>
            </a:solidFill>
            <a:ln w="19050" cap="rnd">
              <a:solidFill>
                <a:srgbClr val="282A2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B8C0D650-AA21-7FD2-7208-EB28DB77C02D}"/>
                </a:ext>
              </a:extLst>
            </p:cNvPr>
            <p:cNvSpPr txBox="1"/>
            <p:nvPr/>
          </p:nvSpPr>
          <p:spPr>
            <a:xfrm>
              <a:off x="0" y="38100"/>
              <a:ext cx="913239" cy="894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7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C640F9-7C80-9480-D5DD-568ADBD26CF1}"/>
              </a:ext>
            </a:extLst>
          </p:cNvPr>
          <p:cNvSpPr txBox="1"/>
          <p:nvPr/>
        </p:nvSpPr>
        <p:spPr>
          <a:xfrm>
            <a:off x="12107333" y="4104253"/>
            <a:ext cx="5302843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The Caterpillar truck model shows the highest overall risk, primarily driven by driver A97</a:t>
            </a:r>
          </a:p>
          <a:p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Lane departures are the most frequent event type, with Arbuckle recording the highest incidents involving A97</a:t>
            </a:r>
          </a:p>
          <a:p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Lodi stands out as a city-level outlier due to elevated speeding events and unusually high MPG</a:t>
            </a:r>
          </a:p>
        </p:txBody>
      </p:sp>
    </p:spTree>
    <p:extLst>
      <p:ext uri="{BB962C8B-B14F-4D97-AF65-F5344CB8AC3E}">
        <p14:creationId xmlns:p14="http://schemas.microsoft.com/office/powerpoint/2010/main" val="50467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159519" y="1983344"/>
            <a:ext cx="5927143" cy="33955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07"/>
              </a:lnSpc>
            </a:pPr>
            <a:endParaRPr/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9A743214-D582-DA22-1051-9D70BEC8C941}"/>
              </a:ext>
            </a:extLst>
          </p:cNvPr>
          <p:cNvSpPr txBox="1"/>
          <p:nvPr/>
        </p:nvSpPr>
        <p:spPr>
          <a:xfrm>
            <a:off x="685800" y="334044"/>
            <a:ext cx="15400862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31"/>
              </a:lnSpc>
            </a:pPr>
            <a:r>
              <a:rPr lang="en-US" sz="8800" spc="-718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Findings and Implementation Path</a:t>
            </a:r>
            <a:endParaRPr lang="en-US" sz="8800" spc="-718">
              <a:solidFill>
                <a:srgbClr val="282A29"/>
              </a:solidFill>
              <a:latin typeface="Open Sauce"/>
              <a:sym typeface="Open Sauce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30F4EE2-C000-07D4-9016-5F8119710C12}"/>
              </a:ext>
            </a:extLst>
          </p:cNvPr>
          <p:cNvSpPr/>
          <p:nvPr/>
        </p:nvSpPr>
        <p:spPr>
          <a:xfrm>
            <a:off x="10159519" y="1983344"/>
            <a:ext cx="7586611" cy="3788008"/>
          </a:xfrm>
          <a:prstGeom prst="roundRect">
            <a:avLst/>
          </a:prstGeom>
          <a:solidFill>
            <a:srgbClr val="FFFCEF"/>
          </a:solidFill>
          <a:ln w="19050" cap="rnd">
            <a:solidFill>
              <a:srgbClr val="282A29"/>
            </a:solidFill>
            <a:prstDash val="solid"/>
            <a:round/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536583" y="2159002"/>
            <a:ext cx="1968261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 u="sng" spc="-91">
                <a:solidFill>
                  <a:srgbClr val="282A29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A1761E-4A5A-73FD-2E55-9C2AC0DA9918}"/>
              </a:ext>
            </a:extLst>
          </p:cNvPr>
          <p:cNvSpPr txBox="1"/>
          <p:nvPr/>
        </p:nvSpPr>
        <p:spPr>
          <a:xfrm>
            <a:off x="10562915" y="2541136"/>
            <a:ext cx="6803147" cy="34450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effectLst/>
                <a:latin typeface="Calibri"/>
                <a:ea typeface="Aptos" panose="020B0004020202020204" pitchFamily="34" charset="0"/>
                <a:cs typeface="Calibri"/>
              </a:rPr>
              <a:t>Lane Departure and Unsafe following distance are the most common risky events.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kern="100">
                <a:latin typeface="Calibri"/>
                <a:ea typeface="Aptos" panose="020B0004020202020204" pitchFamily="34" charset="0"/>
                <a:cs typeface="Calibri"/>
              </a:rPr>
              <a:t>We observed high risk hotspots across NH5</a:t>
            </a:r>
            <a:r>
              <a:rPr lang="en-US" sz="2400" kern="100">
                <a:effectLst/>
                <a:latin typeface="Calibri"/>
                <a:ea typeface="Aptos" panose="020B0004020202020204" pitchFamily="34" charset="0"/>
                <a:cs typeface="Calibri"/>
              </a:rPr>
              <a:t> and </a:t>
            </a:r>
            <a:r>
              <a:rPr lang="en-US" sz="2400" kern="100">
                <a:latin typeface="Calibri"/>
                <a:ea typeface="Aptos" panose="020B0004020202020204" pitchFamily="34" charset="0"/>
                <a:cs typeface="Calibri"/>
              </a:rPr>
              <a:t>concentration</a:t>
            </a:r>
            <a:r>
              <a:rPr lang="en-US" sz="2400" kern="100">
                <a:effectLst/>
                <a:latin typeface="Calibri"/>
                <a:ea typeface="Aptos" panose="020B0004020202020204" pitchFamily="34" charset="0"/>
                <a:cs typeface="Calibri"/>
              </a:rPr>
              <a:t> in </a:t>
            </a:r>
            <a:r>
              <a:rPr lang="en-US" sz="2400" kern="100">
                <a:latin typeface="Calibri"/>
                <a:ea typeface="Aptos" panose="020B0004020202020204" pitchFamily="34" charset="0"/>
                <a:cs typeface="Calibri"/>
              </a:rPr>
              <a:t>certain cities – Santa Rosa being the highest.</a:t>
            </a:r>
            <a:endParaRPr lang="en-US" sz="2400" kern="100">
              <a:effectLst/>
              <a:latin typeface="Calibri"/>
              <a:ea typeface="Aptos" panose="020B0004020202020204" pitchFamily="34" charset="0"/>
              <a:cs typeface="Calibri"/>
            </a:endParaRPr>
          </a:p>
          <a:p>
            <a:pPr marL="285750" marR="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effectLst/>
                <a:latin typeface="Calibri"/>
                <a:ea typeface="Aptos" panose="020B0004020202020204" pitchFamily="34" charset="0"/>
                <a:cs typeface="Calibri"/>
              </a:rPr>
              <a:t>Truck model has no relation with risk factor.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effectLst/>
                <a:latin typeface="Calibri"/>
                <a:ea typeface="Aptos" panose="020B0004020202020204" pitchFamily="34" charset="0"/>
                <a:cs typeface="Calibri"/>
              </a:rPr>
              <a:t>Top</a:t>
            </a:r>
            <a:r>
              <a:rPr lang="en-US" sz="2400" kern="100">
                <a:latin typeface="Calibri"/>
                <a:ea typeface="Aptos" panose="020B0004020202020204" pitchFamily="34" charset="0"/>
                <a:cs typeface="Calibri"/>
              </a:rPr>
              <a:t> 5</a:t>
            </a:r>
            <a:r>
              <a:rPr lang="en-US" sz="2400" kern="100">
                <a:effectLst/>
                <a:latin typeface="Calibri"/>
                <a:ea typeface="Aptos" panose="020B0004020202020204" pitchFamily="34" charset="0"/>
                <a:cs typeface="Calibri"/>
              </a:rPr>
              <a:t> risky drivers identified.</a:t>
            </a:r>
          </a:p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4DE68E76-2A44-A4EA-3C94-033915F1758E}"/>
              </a:ext>
            </a:extLst>
          </p:cNvPr>
          <p:cNvSpPr txBox="1"/>
          <p:nvPr/>
        </p:nvSpPr>
        <p:spPr>
          <a:xfrm>
            <a:off x="10159519" y="6176722"/>
            <a:ext cx="5927143" cy="33955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07"/>
              </a:lnSpc>
            </a:pPr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F61E417-18C9-B23D-6BD2-E871E302A20E}"/>
              </a:ext>
            </a:extLst>
          </p:cNvPr>
          <p:cNvSpPr/>
          <p:nvPr/>
        </p:nvSpPr>
        <p:spPr>
          <a:xfrm>
            <a:off x="10159519" y="6176722"/>
            <a:ext cx="7586611" cy="378561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 cap="rnd">
            <a:solidFill>
              <a:srgbClr val="282A29"/>
            </a:solidFill>
            <a:prstDash val="solid"/>
            <a:round/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TextBox 23">
            <a:extLst>
              <a:ext uri="{FF2B5EF4-FFF2-40B4-BE49-F238E27FC236}">
                <a16:creationId xmlns:a16="http://schemas.microsoft.com/office/drawing/2014/main" id="{38C2BFBB-DAF2-BD83-0BAD-6AF35C255565}"/>
              </a:ext>
            </a:extLst>
          </p:cNvPr>
          <p:cNvSpPr txBox="1"/>
          <p:nvPr/>
        </p:nvSpPr>
        <p:spPr>
          <a:xfrm>
            <a:off x="10536582" y="6352380"/>
            <a:ext cx="3145547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120"/>
              </a:lnSpc>
              <a:defRPr sz="2600" b="1" u="sng" spc="-91">
                <a:solidFill>
                  <a:srgbClr val="282A29"/>
                </a:solidFill>
                <a:latin typeface="Open Sauce"/>
                <a:ea typeface="Open Sauce"/>
                <a:cs typeface="Open Sauce"/>
              </a:defRPr>
            </a:lvl1pPr>
          </a:lstStyle>
          <a:p>
            <a:r>
              <a:rPr lang="en-US"/>
              <a:t>Recommendations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62B8A5-9C56-D203-20D6-E42DEA11C07D}"/>
              </a:ext>
            </a:extLst>
          </p:cNvPr>
          <p:cNvSpPr txBox="1"/>
          <p:nvPr/>
        </p:nvSpPr>
        <p:spPr>
          <a:xfrm>
            <a:off x="10551251" y="6767951"/>
            <a:ext cx="6832453" cy="30405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kern="100">
                <a:latin typeface="Calibri"/>
                <a:cs typeface="Calibri"/>
              </a:rPr>
              <a:t>Deploy dash-cams to detect lane drift and unsafe following distances, triggering alarms.</a:t>
            </a:r>
            <a:endParaRPr lang="en-US" sz="2400" kern="1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kern="100">
                <a:latin typeface="Calibri"/>
                <a:cs typeface="Calibri"/>
              </a:rPr>
              <a:t>Introduce awards like “Safest Driver of the Month” or “Zero Violation Streak” bonuses.</a:t>
            </a:r>
            <a:endParaRPr lang="en-US" sz="2400" kern="10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kern="100">
                <a:latin typeface="Calibri"/>
                <a:cs typeface="Calibri"/>
              </a:rPr>
              <a:t>Provide regular safety training for drivers like A97 on speed control, defensive driving, and lane discipline.</a:t>
            </a:r>
            <a:endParaRPr lang="en-US" sz="2400" kern="100">
              <a:latin typeface="Calibri"/>
              <a:ea typeface="Calibri"/>
              <a:cs typeface="Calibr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5A8853-AA87-BDBA-38D7-421CB8A472FE}"/>
              </a:ext>
            </a:extLst>
          </p:cNvPr>
          <p:cNvGrpSpPr/>
          <p:nvPr/>
        </p:nvGrpSpPr>
        <p:grpSpPr>
          <a:xfrm>
            <a:off x="139250" y="2179841"/>
            <a:ext cx="9472087" cy="7449648"/>
            <a:chOff x="139250" y="2179841"/>
            <a:chExt cx="9472087" cy="7449648"/>
          </a:xfrm>
        </p:grpSpPr>
        <p:sp>
          <p:nvSpPr>
            <p:cNvPr id="20" name="Freeform 20"/>
            <p:cNvSpPr/>
            <p:nvPr/>
          </p:nvSpPr>
          <p:spPr>
            <a:xfrm>
              <a:off x="655304" y="2179841"/>
              <a:ext cx="6179190" cy="4887177"/>
            </a:xfrm>
            <a:custGeom>
              <a:avLst/>
              <a:gdLst/>
              <a:ahLst/>
              <a:cxnLst/>
              <a:rect l="l" t="t" r="r" b="b"/>
              <a:pathLst>
                <a:path w="6179190" h="4887177">
                  <a:moveTo>
                    <a:pt x="0" y="0"/>
                  </a:moveTo>
                  <a:lnTo>
                    <a:pt x="6179190" y="0"/>
                  </a:lnTo>
                  <a:lnTo>
                    <a:pt x="6179190" y="4887177"/>
                  </a:lnTo>
                  <a:lnTo>
                    <a:pt x="0" y="4887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F0B60B20-6C5B-913A-C214-870794F11165}"/>
                </a:ext>
              </a:extLst>
            </p:cNvPr>
            <p:cNvSpPr/>
            <p:nvPr/>
          </p:nvSpPr>
          <p:spPr>
            <a:xfrm>
              <a:off x="6331396" y="2965237"/>
              <a:ext cx="2986983" cy="2567252"/>
            </a:xfrm>
            <a:custGeom>
              <a:avLst/>
              <a:gdLst/>
              <a:ahLst/>
              <a:cxnLst/>
              <a:rect l="l" t="t" r="r" b="b"/>
              <a:pathLst>
                <a:path w="5915185" h="4850452">
                  <a:moveTo>
                    <a:pt x="0" y="0"/>
                  </a:moveTo>
                  <a:lnTo>
                    <a:pt x="5915185" y="0"/>
                  </a:lnTo>
                  <a:lnTo>
                    <a:pt x="5915185" y="4850452"/>
                  </a:lnTo>
                  <a:lnTo>
                    <a:pt x="0" y="4850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0AF06D1A-70C0-B308-1133-F5F32BCB69B9}"/>
                </a:ext>
              </a:extLst>
            </p:cNvPr>
            <p:cNvSpPr/>
            <p:nvPr/>
          </p:nvSpPr>
          <p:spPr>
            <a:xfrm flipH="1">
              <a:off x="5498982" y="5771352"/>
              <a:ext cx="4112355" cy="3858137"/>
            </a:xfrm>
            <a:custGeom>
              <a:avLst/>
              <a:gdLst/>
              <a:ahLst/>
              <a:cxnLst/>
              <a:rect l="l" t="t" r="r" b="b"/>
              <a:pathLst>
                <a:path w="4112355" h="3858137">
                  <a:moveTo>
                    <a:pt x="4112355" y="0"/>
                  </a:moveTo>
                  <a:lnTo>
                    <a:pt x="0" y="0"/>
                  </a:lnTo>
                  <a:lnTo>
                    <a:pt x="0" y="3858137"/>
                  </a:lnTo>
                  <a:lnTo>
                    <a:pt x="4112355" y="3858137"/>
                  </a:lnTo>
                  <a:lnTo>
                    <a:pt x="411235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BDD40A2C-0E67-A0D7-3EB5-2A385CF4A0E6}"/>
                </a:ext>
              </a:extLst>
            </p:cNvPr>
            <p:cNvSpPr/>
            <p:nvPr/>
          </p:nvSpPr>
          <p:spPr>
            <a:xfrm>
              <a:off x="139250" y="5644665"/>
              <a:ext cx="3802018" cy="3858137"/>
            </a:xfrm>
            <a:custGeom>
              <a:avLst/>
              <a:gdLst/>
              <a:ahLst/>
              <a:cxnLst/>
              <a:rect l="l" t="t" r="r" b="b"/>
              <a:pathLst>
                <a:path w="3802018" h="3858137">
                  <a:moveTo>
                    <a:pt x="0" y="0"/>
                  </a:moveTo>
                  <a:lnTo>
                    <a:pt x="3802018" y="0"/>
                  </a:lnTo>
                  <a:lnTo>
                    <a:pt x="3802018" y="3858137"/>
                  </a:lnTo>
                  <a:lnTo>
                    <a:pt x="0" y="3858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651</Words>
  <Application>Microsoft Office PowerPoint</Application>
  <PresentationFormat>Custom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Open Sauce</vt:lpstr>
      <vt:lpstr>Arial</vt:lpstr>
      <vt:lpstr>Open Sans</vt:lpstr>
      <vt:lpstr>-webkit-standard</vt:lpstr>
      <vt:lpstr>Calibri</vt:lpstr>
      <vt:lpstr>Open Sauce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Trucking Business Logistics Visual Charts Presentation in White and Blue Light Simple Style</dc:title>
  <cp:lastModifiedBy>Agbexornu, Edith Kafui</cp:lastModifiedBy>
  <cp:revision>4</cp:revision>
  <dcterms:created xsi:type="dcterms:W3CDTF">2006-08-16T00:00:00Z</dcterms:created>
  <dcterms:modified xsi:type="dcterms:W3CDTF">2026-09-28T23:54:05Z</dcterms:modified>
  <dc:identifier>DAGmicZjYsw</dc:identifier>
</cp:coreProperties>
</file>